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8" r:id="rId1"/>
  </p:sldMasterIdLst>
  <p:sldIdLst>
    <p:sldId id="256" r:id="rId2"/>
    <p:sldId id="262" r:id="rId3"/>
    <p:sldId id="257" r:id="rId4"/>
    <p:sldId id="269" r:id="rId5"/>
    <p:sldId id="259" r:id="rId6"/>
    <p:sldId id="270" r:id="rId7"/>
    <p:sldId id="261" r:id="rId8"/>
    <p:sldId id="263" r:id="rId9"/>
    <p:sldId id="264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8F4684-5ABA-50D7-F5A6-DF83A4FE5AF9}" v="457" dt="2026-10-12T23:30:58.082"/>
    <p1510:client id="{3DDAF68A-9E94-9DE5-9F63-BFD20224C0CD}" v="327" dt="2026-10-12T23:20:26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dirty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478749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dirty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18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dirty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1875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dirty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30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dirty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690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dirty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55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dirty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3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dirty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blipFill>
            <a:blip r:embed="rId2"/>
            <a:stretch>
              <a:fillRect/>
            </a:stretch>
          </a:blip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dirty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69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dirty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577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dirty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41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dirty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36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9" r:id="rId1"/>
    <p:sldLayoutId id="2147484070" r:id="rId2"/>
    <p:sldLayoutId id="2147484071" r:id="rId3"/>
    <p:sldLayoutId id="2147484072" r:id="rId4"/>
    <p:sldLayoutId id="2147484073" r:id="rId5"/>
    <p:sldLayoutId id="2147484074" r:id="rId6"/>
    <p:sldLayoutId id="2147484075" r:id="rId7"/>
    <p:sldLayoutId id="2147484076" r:id="rId8"/>
    <p:sldLayoutId id="2147484077" r:id="rId9"/>
    <p:sldLayoutId id="2147484078" r:id="rId10"/>
    <p:sldLayoutId id="21474840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BA197B8-0F1C-7B9C-B9AF-1FF79614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028699"/>
            <a:ext cx="9418320" cy="38620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/>
              <a:t>Festival Temnoty 2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CFDCFBF-4F98-9B09-6422-22B8E5B6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1872" y="5237670"/>
            <a:ext cx="9418320" cy="1183261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>
                <a:solidFill>
                  <a:schemeClr val="tx1">
                    <a:lumMod val="75000"/>
                  </a:schemeClr>
                </a:solidFill>
              </a:rPr>
              <a:t>xmalo018, xjanf016, xkosd025, xkarm052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E8ECA2-60A0-4D39-817D-F1E982ED7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1500" y="5097592"/>
            <a:ext cx="59639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6453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93EBDC-7DFF-09F4-5542-2D1F1C074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Hlavn</a:t>
            </a:r>
            <a:r>
              <a:rPr lang="cs-CZ" dirty="0"/>
              <a:t>í rozhodnutí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E1B383-852E-AE59-000F-11CA7E23C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/>
              <a:t>Hlavním rozhodnutím pro nás bylo zvolit, jakou práci z předcházejícího </a:t>
            </a:r>
            <a:r>
              <a:rPr lang="cs-CZ" dirty="0"/>
              <a:t>předmětu využít. Bylo vybráno téma „Festival Temnoty“, nyní jako „Festival Temnoty 2“. Práce byla doplněna o dodatečné požadavky.</a:t>
            </a:r>
          </a:p>
        </p:txBody>
      </p:sp>
    </p:spTree>
    <p:extLst>
      <p:ext uri="{BB962C8B-B14F-4D97-AF65-F5344CB8AC3E}">
        <p14:creationId xmlns:p14="http://schemas.microsoft.com/office/powerpoint/2010/main" val="153538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DDB32C-4A9D-03E1-FD75-5620BEE72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Účel webu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F59560-8EB0-2B00-FFB2-E343BA276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Wingdings" pitchFamily="18" charset="2"/>
              <a:buChar char="§"/>
            </a:pPr>
            <a:r>
              <a:rPr lang="cs-CZ" sz="1800"/>
              <a:t>Slouží jako hlavní digitální průvodce festivalem, který prezentuje všech 60 účinkujících, 3 denní program a organizační pokyny pro areál v Kutné hoře.</a:t>
            </a:r>
            <a:endParaRPr lang="en-US" sz="1800"/>
          </a:p>
          <a:p>
            <a:pPr marL="342900" indent="-342900" fontAlgn="base">
              <a:buFont typeface="Courier New" pitchFamily="34" charset="0"/>
              <a:buChar char="o"/>
            </a:pPr>
            <a:r>
              <a:rPr lang="cs-CZ" sz="2000" b="1"/>
              <a:t>Hlavní cíle webu:</a:t>
            </a:r>
            <a:endParaRPr lang="cs-CZ" sz="2000"/>
          </a:p>
          <a:p>
            <a:pPr marL="560070" lvl="1" indent="-285750" fontAlgn="base">
              <a:buFont typeface="Wingdings" pitchFamily="18" charset="2"/>
              <a:buChar char="§"/>
            </a:pPr>
            <a:r>
              <a:rPr lang="cs-CZ" sz="1800"/>
              <a:t>Poskytnout přehledný časový harmonogram pro obě scény (Solar Horizon </a:t>
            </a:r>
            <a:r>
              <a:rPr lang="cs-CZ" sz="1800" err="1"/>
              <a:t>Stage</a:t>
            </a:r>
            <a:r>
              <a:rPr lang="cs-CZ" sz="1800"/>
              <a:t> a </a:t>
            </a:r>
            <a:r>
              <a:rPr lang="cs-CZ" sz="1800" err="1"/>
              <a:t>Lunar</a:t>
            </a:r>
            <a:r>
              <a:rPr lang="cs-CZ" sz="1800"/>
              <a:t> </a:t>
            </a:r>
            <a:r>
              <a:rPr lang="cs-CZ" sz="1800" err="1"/>
              <a:t>Forest</a:t>
            </a:r>
            <a:r>
              <a:rPr lang="cs-CZ" sz="1800"/>
              <a:t> Dome).</a:t>
            </a:r>
          </a:p>
          <a:p>
            <a:pPr marL="560070" lvl="1" indent="-285750" fontAlgn="base">
              <a:buFont typeface="Wingdings" pitchFamily="18" charset="2"/>
              <a:buChar char="§"/>
            </a:pPr>
            <a:r>
              <a:rPr lang="cs-CZ" sz="1800"/>
              <a:t>Představit profily interpretů.</a:t>
            </a:r>
          </a:p>
          <a:p>
            <a:pPr marL="560070" lvl="1" indent="-285750" fontAlgn="base">
              <a:buFont typeface="Wingdings" pitchFamily="18" charset="2"/>
              <a:buChar char="§"/>
            </a:pPr>
            <a:r>
              <a:rPr lang="cs-CZ" sz="1800"/>
              <a:t>Zprostředkovat praktické informace pro bezproblémový průběh návštěvy.</a:t>
            </a:r>
          </a:p>
          <a:p>
            <a:pPr fontAlgn="base">
              <a:buFont typeface="Courier New" pitchFamily="34" charset="0"/>
              <a:buChar char="o"/>
            </a:pPr>
            <a:r>
              <a:rPr lang="cs-CZ" sz="2000" b="1"/>
              <a:t>Důležité akce uživatele na webu:</a:t>
            </a:r>
            <a:endParaRPr lang="cs-CZ" sz="2000"/>
          </a:p>
          <a:p>
            <a:pPr marL="560070" lvl="1" indent="-285750" fontAlgn="base">
              <a:buFont typeface="Wingdings" pitchFamily="18" charset="2"/>
              <a:buChar char="§"/>
            </a:pPr>
            <a:r>
              <a:rPr lang="cs-CZ" sz="1800"/>
              <a:t>Zjištění času a scény, kde hraje vybraný interpret.</a:t>
            </a:r>
          </a:p>
          <a:p>
            <a:pPr marL="560070" lvl="1" indent="-285750" fontAlgn="base">
              <a:buFont typeface="Wingdings" pitchFamily="18" charset="2"/>
              <a:buChar char="§"/>
            </a:pPr>
            <a:r>
              <a:rPr lang="cs-CZ" sz="1800"/>
              <a:t>Uložení vybraných vystoupení do osobního harmonogramu.</a:t>
            </a:r>
          </a:p>
          <a:p>
            <a:pPr marL="560070" lvl="1" indent="-285750" fontAlgn="base">
              <a:buFont typeface="Wingdings" pitchFamily="18" charset="2"/>
              <a:buChar char="§"/>
            </a:pPr>
            <a:r>
              <a:rPr lang="cs-CZ" sz="1800"/>
              <a:t>Vyhledání pokynů k dopravě, orientaci v areálu a pravidlům festivalu.</a:t>
            </a:r>
          </a:p>
        </p:txBody>
      </p:sp>
    </p:spTree>
    <p:extLst>
      <p:ext uri="{BB962C8B-B14F-4D97-AF65-F5344CB8AC3E}">
        <p14:creationId xmlns:p14="http://schemas.microsoft.com/office/powerpoint/2010/main" val="1668794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4F3D6A-B10D-A836-6114-12C14E7CC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1AE709-5A79-7B3F-93F7-AF50EA49B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Cílové skupiny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E212DC-07E6-1BA3-DE12-602892E8A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32412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617220" lvl="1" indent="-342900" fontAlgn="base">
              <a:spcAft>
                <a:spcPts val="600"/>
              </a:spcAft>
              <a:buFont typeface="Courier New" pitchFamily="34" charset="0"/>
              <a:buChar char="o"/>
            </a:pPr>
            <a:r>
              <a:rPr lang="cs-CZ" sz="2000" b="1" spc="10">
                <a:solidFill>
                  <a:srgbClr val="000000"/>
                </a:solidFill>
                <a:latin typeface="Century Schoolbook"/>
              </a:rPr>
              <a:t>Fanoušci alternativní a elektronické hudby (18–35 let)</a:t>
            </a:r>
            <a:endParaRPr lang="en-US" sz="2000" spc="10">
              <a:solidFill>
                <a:srgbClr val="000000"/>
              </a:solidFill>
            </a:endParaRPr>
          </a:p>
          <a:p>
            <a:pPr marL="1074420" lvl="2">
              <a:buFont typeface="Wingdings"/>
              <a:buChar char="§"/>
            </a:pPr>
            <a:r>
              <a:rPr lang="cs-CZ" sz="1800">
                <a:solidFill>
                  <a:srgbClr val="262626"/>
                </a:solidFill>
                <a:latin typeface="Century Schoolbook"/>
              </a:rPr>
              <a:t>Potřeby: Rychlý přístup k detailnímu line-upu, objevování nových jmen, osobní plánování.</a:t>
            </a:r>
            <a:endParaRPr lang="en-US" sz="1800">
              <a:solidFill>
                <a:srgbClr val="000000"/>
              </a:solidFill>
              <a:latin typeface="Century Schoolbook"/>
            </a:endParaRPr>
          </a:p>
          <a:p>
            <a:pPr marL="1074420" lvl="2" fontAlgn="base">
              <a:buFont typeface="Wingdings" pitchFamily="18" charset="2"/>
              <a:buChar char="§"/>
            </a:pPr>
            <a:r>
              <a:rPr lang="cs-CZ" sz="1800">
                <a:latin typeface="Century Schoolbook"/>
              </a:rPr>
              <a:t>Očekávání: Rychlý, responzivní web pro snadné použití přímo pod pódiem.</a:t>
            </a:r>
          </a:p>
          <a:p>
            <a:pPr marL="1074420" lvl="2" fontAlgn="base">
              <a:buFont typeface="Wingdings" pitchFamily="18" charset="2"/>
              <a:buChar char="§"/>
            </a:pPr>
            <a:r>
              <a:rPr lang="cs-CZ" sz="1800">
                <a:latin typeface="Century Schoolbook"/>
              </a:rPr>
              <a:t>Informace/funkce: Interaktivní program s filtrem, uložení oblíbených interpretů.</a:t>
            </a:r>
          </a:p>
          <a:p>
            <a:pPr marL="617220" marR="0" lvl="1" indent="-342900" algn="l" fontAlgn="base">
              <a:spcAft>
                <a:spcPts val="600"/>
              </a:spcAft>
              <a:buFont typeface="Courier New" pitchFamily="34" charset="0"/>
              <a:buChar char="o"/>
            </a:pPr>
            <a:r>
              <a:rPr lang="cs-CZ" sz="2000" b="1" spc="10">
                <a:solidFill>
                  <a:srgbClr val="000000"/>
                </a:solidFill>
                <a:latin typeface="Century Schoolbook"/>
              </a:rPr>
              <a:t>Běžní návštěvníci a místní (20–50 let)</a:t>
            </a:r>
          </a:p>
          <a:p>
            <a:pPr marL="1074420" lvl="2" fontAlgn="base">
              <a:buFont typeface="Wingdings" pitchFamily="18" charset="2"/>
              <a:buChar char="§"/>
            </a:pPr>
            <a:r>
              <a:rPr lang="cs-CZ" sz="1800">
                <a:latin typeface="Century Schoolbook"/>
              </a:rPr>
              <a:t>Potřeby: </a:t>
            </a:r>
            <a:r>
              <a:rPr lang="cs-CZ" sz="1800">
                <a:ea typeface="+mn-lt"/>
                <a:cs typeface="+mn-lt"/>
              </a:rPr>
              <a:t>Zjistit, jak a kdy se dostat do areálu, jaký je program na pódiích.</a:t>
            </a:r>
            <a:endParaRPr lang="cs-CZ" sz="1800">
              <a:latin typeface="Century Schoolbook"/>
            </a:endParaRPr>
          </a:p>
          <a:p>
            <a:pPr marL="1074420" lvl="2" fontAlgn="base">
              <a:buFont typeface="Wingdings" pitchFamily="18" charset="2"/>
              <a:buChar char="§"/>
            </a:pPr>
            <a:r>
              <a:rPr lang="cs-CZ" sz="1800">
                <a:latin typeface="Century Schoolbook"/>
              </a:rPr>
              <a:t>Očekávání: Srozumitelné, věcné a snadno dohledatelné praktické informace.</a:t>
            </a:r>
          </a:p>
          <a:p>
            <a:pPr marL="1074420" lvl="2" fontAlgn="base">
              <a:buFont typeface="Wingdings" pitchFamily="18" charset="2"/>
              <a:buChar char="§"/>
            </a:pPr>
            <a:r>
              <a:rPr lang="cs-CZ" sz="1800">
                <a:latin typeface="Century Schoolbook"/>
              </a:rPr>
              <a:t>Informace/funkce: Sekce "Praktické informace", přehledná navigace, informace o scénách.</a:t>
            </a: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19340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9B57E84-8E9F-7732-1EF5-DE93E110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Informační architektura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CE8BFB9-3D81-82BA-6B94-87F4A42E9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/>
              <a:t>/ (Úvodní stránka)</a:t>
            </a:r>
          </a:p>
          <a:p>
            <a:pPr marL="0" indent="0">
              <a:buNone/>
            </a:pPr>
            <a:r>
              <a:rPr lang="cs-CZ" dirty="0"/>
              <a:t>	/program (Kompletní harmonogram)</a:t>
            </a:r>
          </a:p>
          <a:p>
            <a:pPr marL="0" indent="0">
              <a:buNone/>
            </a:pPr>
            <a:r>
              <a:rPr lang="cs-CZ" dirty="0"/>
              <a:t>		/</a:t>
            </a:r>
            <a:r>
              <a:rPr lang="cs-CZ" dirty="0" err="1"/>
              <a:t>program?den</a:t>
            </a:r>
            <a:r>
              <a:rPr lang="cs-CZ" dirty="0"/>
              <a:t>=1 (Pátek 10. 7.)</a:t>
            </a:r>
          </a:p>
          <a:p>
            <a:pPr marL="0" indent="0">
              <a:buNone/>
            </a:pPr>
            <a:r>
              <a:rPr lang="cs-CZ" dirty="0"/>
              <a:t>		/</a:t>
            </a:r>
            <a:r>
              <a:rPr lang="cs-CZ" dirty="0" err="1"/>
              <a:t>program?den</a:t>
            </a:r>
            <a:r>
              <a:rPr lang="cs-CZ" dirty="0"/>
              <a:t>=2 (Sobota 11. 7.)</a:t>
            </a:r>
          </a:p>
          <a:p>
            <a:pPr marL="0" indent="0">
              <a:buNone/>
            </a:pPr>
            <a:r>
              <a:rPr lang="cs-CZ" dirty="0"/>
              <a:t>		/</a:t>
            </a:r>
            <a:r>
              <a:rPr lang="cs-CZ" dirty="0" err="1"/>
              <a:t>program?den</a:t>
            </a:r>
            <a:r>
              <a:rPr lang="cs-CZ" dirty="0"/>
              <a:t>=3 (Neděle 12. 7.)</a:t>
            </a:r>
          </a:p>
          <a:p>
            <a:pPr marL="0" indent="0">
              <a:buNone/>
            </a:pPr>
            <a:r>
              <a:rPr lang="cs-CZ" dirty="0"/>
              <a:t>	/</a:t>
            </a:r>
            <a:r>
              <a:rPr lang="cs-CZ" dirty="0" err="1"/>
              <a:t>ucinkujici</a:t>
            </a:r>
            <a:r>
              <a:rPr lang="cs-CZ" dirty="0"/>
              <a:t> (Seznam 60 interpretů) -&gt; /</a:t>
            </a:r>
            <a:r>
              <a:rPr lang="cs-CZ" dirty="0" err="1"/>
              <a:t>ucinkujici</a:t>
            </a:r>
            <a:r>
              <a:rPr lang="cs-CZ" dirty="0"/>
              <a:t>/[id] (Detail)</a:t>
            </a:r>
          </a:p>
          <a:p>
            <a:pPr marL="0" indent="0">
              <a:buNone/>
            </a:pPr>
            <a:r>
              <a:rPr lang="cs-CZ" dirty="0"/>
              <a:t>	/</a:t>
            </a:r>
            <a:r>
              <a:rPr lang="cs-CZ" dirty="0" err="1"/>
              <a:t>sceny</a:t>
            </a:r>
            <a:r>
              <a:rPr lang="cs-CZ" dirty="0"/>
              <a:t> (Seznam 2 scén) -&gt; /</a:t>
            </a:r>
            <a:r>
              <a:rPr lang="cs-CZ" dirty="0" err="1"/>
              <a:t>sceny</a:t>
            </a:r>
            <a:r>
              <a:rPr lang="cs-CZ" dirty="0"/>
              <a:t>/[id] (Detail scény)</a:t>
            </a:r>
          </a:p>
          <a:p>
            <a:pPr marL="0" indent="0">
              <a:buNone/>
            </a:pPr>
            <a:r>
              <a:rPr lang="cs-CZ" dirty="0"/>
              <a:t>	/</a:t>
            </a:r>
            <a:r>
              <a:rPr lang="cs-CZ" dirty="0" err="1"/>
              <a:t>prakticke</a:t>
            </a:r>
            <a:r>
              <a:rPr lang="cs-CZ" dirty="0"/>
              <a:t>-informace (FAQ, doprava do Kutné hory)</a:t>
            </a:r>
          </a:p>
          <a:p>
            <a:pPr marL="0" indent="0">
              <a:buNone/>
            </a:pPr>
            <a:r>
              <a:rPr lang="cs-CZ" dirty="0"/>
              <a:t>	/</a:t>
            </a:r>
            <a:r>
              <a:rPr lang="cs-CZ" dirty="0" err="1"/>
              <a:t>muj</a:t>
            </a:r>
            <a:r>
              <a:rPr lang="cs-CZ" dirty="0"/>
              <a:t>-program (Interaktivní výběr vystoupení)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388517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F689E-B0C6-B7B1-FC0D-6892CA4F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35C433-7973-F5A3-F851-6815789FB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Uživatelské scénáře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548DF-B2A8-F36C-CD27-2F93C5DAF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z="2400" b="1">
                <a:solidFill>
                  <a:srgbClr val="000000"/>
                </a:solidFill>
              </a:rPr>
              <a:t>Scénář 1: </a:t>
            </a:r>
            <a:endParaRPr lang="en-US" sz="240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30F8EBA-810F-9829-C494-A7645652B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61872" y="2453122"/>
            <a:ext cx="4625702" cy="3719078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1">
              <a:buFont typeface="Courier New" pitchFamily="34" charset="0"/>
              <a:buChar char="o"/>
            </a:pPr>
            <a:r>
              <a:rPr lang="cs-CZ" sz="2000" b="1" spc="10">
                <a:solidFill>
                  <a:srgbClr val="000000"/>
                </a:solidFill>
              </a:rPr>
              <a:t>Zjištění programu na kryté scéně</a:t>
            </a:r>
            <a:endParaRPr lang="en-US" sz="2000" spc="10">
              <a:solidFill>
                <a:srgbClr val="000000"/>
              </a:solidFill>
            </a:endParaRPr>
          </a:p>
          <a:p>
            <a:pPr lvl="2">
              <a:buFont typeface="Wingdings" pitchFamily="34" charset="0"/>
              <a:buChar char="§"/>
            </a:pPr>
            <a:r>
              <a:rPr lang="cs-CZ" sz="1800" b="1" spc="10">
                <a:solidFill>
                  <a:srgbClr val="000000"/>
                </a:solidFill>
              </a:rPr>
              <a:t>Typ uživatele:</a:t>
            </a:r>
            <a:r>
              <a:rPr lang="cs-CZ" sz="1800" spc="10">
                <a:solidFill>
                  <a:srgbClr val="000000"/>
                </a:solidFill>
              </a:rPr>
              <a:t> Návštěvník v areálu.</a:t>
            </a:r>
            <a:endParaRPr lang="en-US" sz="1800" spc="10">
              <a:solidFill>
                <a:srgbClr val="000000"/>
              </a:solidFill>
            </a:endParaRPr>
          </a:p>
          <a:p>
            <a:pPr lvl="2">
              <a:buFont typeface="Wingdings" pitchFamily="34" charset="0"/>
              <a:buChar char="§"/>
            </a:pPr>
            <a:r>
              <a:rPr lang="cs-CZ" sz="1800" b="1" spc="10">
                <a:solidFill>
                  <a:srgbClr val="000000"/>
                </a:solidFill>
              </a:rPr>
              <a:t>Cíl:</a:t>
            </a:r>
            <a:r>
              <a:rPr lang="cs-CZ" sz="1800" spc="10">
                <a:solidFill>
                  <a:srgbClr val="000000"/>
                </a:solidFill>
              </a:rPr>
              <a:t> Zjistit, kdo hraje dnes večer v Lunar Forest Dome.</a:t>
            </a:r>
          </a:p>
          <a:p>
            <a:pPr lvl="2">
              <a:buFont typeface="Wingdings" pitchFamily="34" charset="0"/>
              <a:buChar char="§"/>
            </a:pPr>
            <a:r>
              <a:rPr lang="cs-CZ" sz="1800" b="1" spc="10">
                <a:solidFill>
                  <a:srgbClr val="000000"/>
                </a:solidFill>
              </a:rPr>
              <a:t>Výchozí situace:</a:t>
            </a:r>
            <a:r>
              <a:rPr lang="cs-CZ" sz="1800" spc="10">
                <a:solidFill>
                  <a:srgbClr val="000000"/>
                </a:solidFill>
              </a:rPr>
              <a:t> Začíná pršet, uživatel hledá přesun pod střechu a otevírá web na mobilu.</a:t>
            </a:r>
          </a:p>
          <a:p>
            <a:pPr lvl="2">
              <a:buFont typeface="Wingdings" pitchFamily="34" charset="0"/>
              <a:buChar char="§"/>
            </a:pPr>
            <a:r>
              <a:rPr lang="cs-CZ" sz="1800" b="1" spc="10">
                <a:solidFill>
                  <a:srgbClr val="000000"/>
                </a:solidFill>
              </a:rPr>
              <a:t>Očekávaný výsledek:</a:t>
            </a:r>
            <a:r>
              <a:rPr lang="cs-CZ" sz="1800" spc="10">
                <a:solidFill>
                  <a:srgbClr val="000000"/>
                </a:solidFill>
              </a:rPr>
              <a:t> V menu vybere "Scény", klikne na "Lunar Forest Dome" a vidí chronologický program pro aktuální den s detaily vystupujících.</a:t>
            </a:r>
          </a:p>
          <a:p>
            <a:pPr marL="0" lvl="0" indent="0" fontAlgn="base">
              <a:buNone/>
            </a:pPr>
            <a:endParaRPr lang="cs-CZ" sz="15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A3CCC2-E8B8-C25D-C245-AFF6087A8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cs-CZ" sz="2400" b="1">
                <a:solidFill>
                  <a:srgbClr val="000000"/>
                </a:solidFill>
              </a:rPr>
              <a:t>Scénář 2:</a:t>
            </a:r>
            <a:endParaRPr lang="en-US" sz="24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1AD695-EF29-826E-3559-443EE27E359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>
              <a:buFont typeface="Courier New" pitchFamily="34" charset="0"/>
              <a:buChar char="o"/>
            </a:pPr>
            <a:r>
              <a:rPr lang="cs-CZ" sz="2000" b="1" spc="10">
                <a:solidFill>
                  <a:srgbClr val="000000"/>
                </a:solidFill>
              </a:rPr>
              <a:t>Doprava do Kutné hory</a:t>
            </a:r>
            <a:endParaRPr lang="en-US" sz="2000" b="1" spc="10">
              <a:solidFill>
                <a:srgbClr val="000000"/>
              </a:solidFill>
            </a:endParaRPr>
          </a:p>
          <a:p>
            <a:pPr lvl="2">
              <a:buFont typeface="Wingdings" pitchFamily="34" charset="0"/>
              <a:buChar char="§"/>
            </a:pPr>
            <a:r>
              <a:rPr lang="cs-CZ" sz="1800" b="1" spc="10">
                <a:solidFill>
                  <a:srgbClr val="000000"/>
                </a:solidFill>
              </a:rPr>
              <a:t>Typ uživatele:</a:t>
            </a:r>
            <a:r>
              <a:rPr lang="cs-CZ" sz="1800" spc="10" dirty="0">
                <a:solidFill>
                  <a:srgbClr val="000000"/>
                </a:solidFill>
              </a:rPr>
              <a:t> </a:t>
            </a:r>
            <a:r>
              <a:rPr lang="cs-CZ" sz="1800" spc="10">
                <a:solidFill>
                  <a:srgbClr val="000000"/>
                </a:solidFill>
              </a:rPr>
              <a:t>Mimokutnhorský návštěvník.</a:t>
            </a:r>
          </a:p>
          <a:p>
            <a:pPr lvl="2">
              <a:buFont typeface="Wingdings" pitchFamily="34" charset="0"/>
              <a:buChar char="§"/>
            </a:pPr>
            <a:r>
              <a:rPr lang="cs-CZ" sz="1800" b="1" spc="10">
                <a:solidFill>
                  <a:srgbClr val="000000"/>
                </a:solidFill>
              </a:rPr>
              <a:t>Cíl:</a:t>
            </a:r>
            <a:r>
              <a:rPr lang="cs-CZ" sz="1800" spc="10">
                <a:solidFill>
                  <a:srgbClr val="000000"/>
                </a:solidFill>
              </a:rPr>
              <a:t> Zjistit, jak se dostane do areálu.</a:t>
            </a:r>
          </a:p>
          <a:p>
            <a:pPr lvl="2">
              <a:buFont typeface="Wingdings" pitchFamily="34" charset="0"/>
              <a:buChar char="§"/>
            </a:pPr>
            <a:r>
              <a:rPr lang="cs-CZ" sz="1800" b="1" spc="10">
                <a:solidFill>
                  <a:srgbClr val="000000"/>
                </a:solidFill>
              </a:rPr>
              <a:t>Výchozí situace:</a:t>
            </a:r>
            <a:r>
              <a:rPr lang="cs-CZ" sz="1800" spc="10">
                <a:solidFill>
                  <a:srgbClr val="000000"/>
                </a:solidFill>
              </a:rPr>
              <a:t> Uživatel stojí na nádraží v Kutné hoře.</a:t>
            </a:r>
          </a:p>
          <a:p>
            <a:pPr lvl="2">
              <a:buFont typeface="Wingdings" pitchFamily="34" charset="0"/>
              <a:buChar char="§"/>
            </a:pPr>
            <a:r>
              <a:rPr lang="cs-CZ" sz="1800" b="1" spc="10">
                <a:solidFill>
                  <a:srgbClr val="000000"/>
                </a:solidFill>
              </a:rPr>
              <a:t>Očekávaný výsledek:</a:t>
            </a:r>
            <a:r>
              <a:rPr lang="cs-CZ" sz="1800" spc="10">
                <a:solidFill>
                  <a:srgbClr val="000000"/>
                </a:solidFill>
              </a:rPr>
              <a:t> Otevře sekci "Praktické info" a podle ní se vydá do areálu v Kutné hoře.</a:t>
            </a:r>
          </a:p>
          <a:p>
            <a:pPr>
              <a:buFont typeface="Wingdings" pitchFamily="34" charset="0"/>
              <a:buChar char="§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64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FB57C58-5931-F849-296A-3C06BF622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Použití AI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FDC4F9-DAE1-4B4D-3387-FEB00C299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dirty="0"/>
              <a:t>AI byla využita k reformátování struktury .</a:t>
            </a:r>
            <a:r>
              <a:rPr lang="cs-CZ" err="1"/>
              <a:t>md</a:t>
            </a:r>
            <a:r>
              <a:rPr lang="cs-CZ" dirty="0"/>
              <a:t> dokumentu z původní práce, pro generaci uživatelských scénářů a informační architektury. Dále byla </a:t>
            </a:r>
            <a:r>
              <a:rPr lang="cs-CZ"/>
              <a:t>použita AI k vytvoření dat pro data.xml odpovídající zadání a práci.</a:t>
            </a:r>
          </a:p>
        </p:txBody>
      </p:sp>
    </p:spTree>
    <p:extLst>
      <p:ext uri="{BB962C8B-B14F-4D97-AF65-F5344CB8AC3E}">
        <p14:creationId xmlns:p14="http://schemas.microsoft.com/office/powerpoint/2010/main" val="10292268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B07F559-9378-A264-762B-7A6E1C3A0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Ověření výsledku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56D382-3237-6919-EB94-0176AA361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>
              <a:buFont typeface="Wingdings" pitchFamily="34" charset="0"/>
              <a:buChar char="§"/>
            </a:pPr>
            <a:r>
              <a:rPr lang="cs-CZ" dirty="0"/>
              <a:t>Zkontrolovali jsme, že specifikace odpovídá XML datům: 3 dny (10.-12. 7. 2026), 2 scény (Solar a </a:t>
            </a:r>
            <a:r>
              <a:rPr lang="cs-CZ" dirty="0" err="1"/>
              <a:t>Lunar</a:t>
            </a:r>
            <a:r>
              <a:rPr lang="cs-CZ" dirty="0"/>
              <a:t>), 60 umělců, a že struktura dokumentu plní zadání.</a:t>
            </a:r>
            <a:endParaRPr lang="en-US"/>
          </a:p>
          <a:p>
            <a:pPr>
              <a:buFont typeface="Wingdings" pitchFamily="34" charset="0"/>
              <a:buChar char="§"/>
            </a:pPr>
            <a:r>
              <a:rPr lang="cs-CZ" dirty="0"/>
              <a:t>Přijali jsme strukturu dokumentu odpovídající zadání, vhodně vygenerované scénáře, informační architekturu a data pro data.xml.</a:t>
            </a:r>
            <a:endParaRPr lang="cs-CZ"/>
          </a:p>
          <a:p>
            <a:pPr>
              <a:buFont typeface="Wingdings" pitchFamily="34" charset="0"/>
              <a:buChar char="§"/>
            </a:pPr>
            <a:r>
              <a:rPr lang="cs-CZ" dirty="0"/>
              <a:t>Upravili jsme popisky a cílové skupiny specifickému zaměření festivalu (elektronika, ambient), aby odpovídaly žánrům z XML souboru.</a:t>
            </a:r>
            <a:endParaRPr lang="cs-CZ"/>
          </a:p>
          <a:p>
            <a:pPr>
              <a:buFont typeface="Wingdings" pitchFamily="34" charset="0"/>
              <a:buChar char="§"/>
            </a:pPr>
            <a:r>
              <a:rPr lang="cs-CZ" dirty="0"/>
              <a:t>Bylo nutné dávat pozor, aby AI negenerovala věci přesahující rozsah zadání.</a:t>
            </a: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9755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401A0-F54E-7506-E986-A9FCD4537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1028699"/>
            <a:ext cx="9418320" cy="38620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85000"/>
              </a:lnSpc>
            </a:pPr>
            <a:r>
              <a:rPr lang="en-US" sz="6000" dirty="0" err="1"/>
              <a:t>Děkujeme</a:t>
            </a:r>
            <a:r>
              <a:rPr lang="en-US" sz="6000" dirty="0">
                <a:ea typeface="+mj-lt"/>
                <a:cs typeface="+mj-lt"/>
              </a:rPr>
              <a:t> za </a:t>
            </a:r>
            <a:r>
              <a:rPr lang="en-US" sz="6000" dirty="0" err="1">
                <a:ea typeface="+mj-lt"/>
                <a:cs typeface="+mj-lt"/>
              </a:rPr>
              <a:t>pozornost</a:t>
            </a:r>
            <a:endParaRPr lang="en-US" sz="6000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17DBAC-A3F5-9BC1-9AF6-B13C5CEEA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83" y="5237670"/>
            <a:ext cx="10839346" cy="1183261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buNone/>
            </a:pPr>
            <a:r>
              <a:rPr lang="en-US" sz="2200">
                <a:solidFill>
                  <a:schemeClr val="tx1">
                    <a:lumMod val="75000"/>
                  </a:schemeClr>
                </a:solidFill>
              </a:rPr>
              <a:t>Ondřej Malík,</a:t>
            </a:r>
            <a:r>
              <a:rPr lang="en-US" sz="2200" dirty="0">
                <a:solidFill>
                  <a:schemeClr val="tx1">
                    <a:lumMod val="75000"/>
                  </a:schemeClr>
                </a:solidFill>
              </a:rPr>
              <a:t> František Josef Jankovský,</a:t>
            </a:r>
            <a:r>
              <a:rPr lang="en-US" sz="2200">
                <a:solidFill>
                  <a:schemeClr val="tx1">
                    <a:lumMod val="75000"/>
                  </a:schemeClr>
                </a:solidFill>
              </a:rPr>
              <a:t> David Kostera, Martin Karásek</a:t>
            </a:r>
            <a:endParaRPr lang="en-US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E8ECA2-60A0-4D39-817D-F1E982ED7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651500" y="5097592"/>
            <a:ext cx="596394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2478256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621</Words>
  <Application>Microsoft Office PowerPoint</Application>
  <PresentationFormat>Widescreen</PresentationFormat>
  <Paragraphs>53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View</vt:lpstr>
      <vt:lpstr>Festival Temnoty 2</vt:lpstr>
      <vt:lpstr>Hlavní rozhodnutí</vt:lpstr>
      <vt:lpstr>Účel webu</vt:lpstr>
      <vt:lpstr>Cílové skupiny</vt:lpstr>
      <vt:lpstr>Informační architektura</vt:lpstr>
      <vt:lpstr>Uživatelské scénáře</vt:lpstr>
      <vt:lpstr>Použití AI</vt:lpstr>
      <vt:lpstr>Ověření výsledku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revision>371</cp:revision>
  <dcterms:created xsi:type="dcterms:W3CDTF">2026-10-12T20:03:13Z</dcterms:created>
  <dcterms:modified xsi:type="dcterms:W3CDTF">2026-10-12T23:35:54Z</dcterms:modified>
</cp:coreProperties>
</file>